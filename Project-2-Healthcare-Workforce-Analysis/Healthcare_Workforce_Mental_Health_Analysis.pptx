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70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25" d="100"/>
          <a:sy n="125" d="100"/>
        </p:scale>
        <p:origin x="1194" y="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035726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1F9718-2C3A-6645-2F5B-2F92C43562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FD892B-19F8-1632-7A97-D93C2661F2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448B20-D34B-C10F-E2B0-7436A5AAE5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C7F4C7-AE2E-83D9-B206-2B36DF7031F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15042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53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91886"/>
            <a:ext cx="8229600" cy="15283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02C3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HEALTHCARE WORKFORCE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 Health Crisis Analysis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200400" y="2606040"/>
            <a:ext cx="2743200" cy="4572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3017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 Health &amp; Burnout Assessment Report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Portfolio Project</a:t>
            </a:r>
            <a:endParaRPr lang="en-US" sz="1400" dirty="0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01AC6DC6-A7EF-1490-ACA9-78484E3E1B95}"/>
              </a:ext>
            </a:extLst>
          </p:cNvPr>
          <p:cNvSpPr/>
          <p:nvPr/>
        </p:nvSpPr>
        <p:spPr>
          <a:xfrm>
            <a:off x="-2148840" y="2011680"/>
            <a:ext cx="1828800" cy="146304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F5B37CD5-EBFF-5E96-5484-371EB7D99E53}"/>
              </a:ext>
            </a:extLst>
          </p:cNvPr>
          <p:cNvSpPr/>
          <p:nvPr/>
        </p:nvSpPr>
        <p:spPr>
          <a:xfrm>
            <a:off x="-2148840" y="21945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👥</a:t>
            </a:r>
            <a:endParaRPr lang="en-US" sz="36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98AC3A33-650A-6416-08B1-151A1F050FA8}"/>
              </a:ext>
            </a:extLst>
          </p:cNvPr>
          <p:cNvSpPr/>
          <p:nvPr/>
        </p:nvSpPr>
        <p:spPr>
          <a:xfrm>
            <a:off x="-2148840" y="26517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5,000</a:t>
            </a:r>
            <a:endParaRPr lang="en-US" sz="2600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A7B427FC-B35D-9264-0583-3E6CD0D53A30}"/>
              </a:ext>
            </a:extLst>
          </p:cNvPr>
          <p:cNvSpPr/>
          <p:nvPr/>
        </p:nvSpPr>
        <p:spPr>
          <a:xfrm>
            <a:off x="-2148840" y="3063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Workforce</a:t>
            </a:r>
            <a:endParaRPr lang="en-US" sz="1100" dirty="0"/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62A990DA-857D-ACEC-A4A8-EF531321A36E}"/>
              </a:ext>
            </a:extLst>
          </p:cNvPr>
          <p:cNvSpPr/>
          <p:nvPr/>
        </p:nvSpPr>
        <p:spPr>
          <a:xfrm>
            <a:off x="2743200" y="5334000"/>
            <a:ext cx="1828800" cy="146304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62B291C6-A675-F4D7-7672-4FC70251DDF0}"/>
              </a:ext>
            </a:extLst>
          </p:cNvPr>
          <p:cNvSpPr/>
          <p:nvPr/>
        </p:nvSpPr>
        <p:spPr>
          <a:xfrm>
            <a:off x="2743200" y="55168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⚠️</a:t>
            </a:r>
            <a:endParaRPr lang="en-US" sz="3600" dirty="0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76E2F3C1-C78D-78C5-9253-A4423FEEE75D}"/>
              </a:ext>
            </a:extLst>
          </p:cNvPr>
          <p:cNvSpPr/>
          <p:nvPr/>
        </p:nvSpPr>
        <p:spPr>
          <a:xfrm>
            <a:off x="2743200" y="59740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6394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66.7%</a:t>
            </a:r>
            <a:endParaRPr lang="en-US" sz="2600" dirty="0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AD7C1034-D6B6-06D2-A7B7-EAA2AE9CE036}"/>
              </a:ext>
            </a:extLst>
          </p:cNvPr>
          <p:cNvSpPr/>
          <p:nvPr/>
        </p:nvSpPr>
        <p:spPr>
          <a:xfrm>
            <a:off x="2743200" y="63855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Turnover Risk</a:t>
            </a:r>
            <a:endParaRPr lang="en-US" sz="1100" dirty="0"/>
          </a:p>
        </p:txBody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F72E2267-1C09-E1EA-14AF-C114D31EA790}"/>
              </a:ext>
            </a:extLst>
          </p:cNvPr>
          <p:cNvSpPr/>
          <p:nvPr/>
        </p:nvSpPr>
        <p:spPr>
          <a:xfrm>
            <a:off x="4846320" y="5372100"/>
            <a:ext cx="1828800" cy="146304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68DB3806-8186-1507-5BCF-76931A656B07}"/>
              </a:ext>
            </a:extLst>
          </p:cNvPr>
          <p:cNvSpPr/>
          <p:nvPr/>
        </p:nvSpPr>
        <p:spPr>
          <a:xfrm>
            <a:off x="4846320" y="55549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😰</a:t>
            </a:r>
            <a:endParaRPr lang="en-US" sz="3600" dirty="0"/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95B29F08-BA80-2FF2-5B9E-2DEDA4A60FA4}"/>
              </a:ext>
            </a:extLst>
          </p:cNvPr>
          <p:cNvSpPr/>
          <p:nvPr/>
        </p:nvSpPr>
        <p:spPr>
          <a:xfrm>
            <a:off x="4846320" y="60121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6394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44.4%</a:t>
            </a:r>
            <a:endParaRPr lang="en-US" sz="2600" dirty="0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F96F6E7C-8D62-9B8E-F689-A7871FA70537}"/>
              </a:ext>
            </a:extLst>
          </p:cNvPr>
          <p:cNvSpPr/>
          <p:nvPr/>
        </p:nvSpPr>
        <p:spPr>
          <a:xfrm>
            <a:off x="4846320" y="64236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Burnout Rate</a:t>
            </a:r>
            <a:endParaRPr lang="en-US" sz="1100" dirty="0"/>
          </a:p>
        </p:txBody>
      </p:sp>
      <p:sp>
        <p:nvSpPr>
          <p:cNvPr id="19" name="Shape 16">
            <a:extLst>
              <a:ext uri="{FF2B5EF4-FFF2-40B4-BE49-F238E27FC236}">
                <a16:creationId xmlns:a16="http://schemas.microsoft.com/office/drawing/2014/main" id="{68CB7CE5-9181-CA55-1644-32A2C8931ACC}"/>
              </a:ext>
            </a:extLst>
          </p:cNvPr>
          <p:cNvSpPr/>
          <p:nvPr/>
        </p:nvSpPr>
        <p:spPr>
          <a:xfrm>
            <a:off x="9418320" y="2011680"/>
            <a:ext cx="1828800" cy="146304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A1C5D2C7-A4AE-1B8D-FE7E-B906A6EFA920}"/>
              </a:ext>
            </a:extLst>
          </p:cNvPr>
          <p:cNvSpPr/>
          <p:nvPr/>
        </p:nvSpPr>
        <p:spPr>
          <a:xfrm>
            <a:off x="9418320" y="21945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📊</a:t>
            </a:r>
            <a:endParaRPr lang="en-US" sz="3600" dirty="0"/>
          </a:p>
        </p:txBody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E61AB3E9-F9FD-1AC9-DC0A-48696CE976D5}"/>
              </a:ext>
            </a:extLst>
          </p:cNvPr>
          <p:cNvSpPr/>
          <p:nvPr/>
        </p:nvSpPr>
        <p:spPr>
          <a:xfrm>
            <a:off x="9418320" y="26517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6394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7.33/10</a:t>
            </a:r>
            <a:endParaRPr lang="en-US" sz="2600" dirty="0"/>
          </a:p>
        </p:txBody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0106882D-4B2E-33F3-8D99-6BF5B110B943}"/>
              </a:ext>
            </a:extLst>
          </p:cNvPr>
          <p:cNvSpPr/>
          <p:nvPr/>
        </p:nvSpPr>
        <p:spPr>
          <a:xfrm>
            <a:off x="9418320" y="3063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Stress Level</a:t>
            </a:r>
            <a:endParaRPr lang="en-US" sz="1100" dirty="0"/>
          </a:p>
        </p:txBody>
      </p:sp>
      <p:sp>
        <p:nvSpPr>
          <p:cNvPr id="23" name="Shape 2">
            <a:extLst>
              <a:ext uri="{FF2B5EF4-FFF2-40B4-BE49-F238E27FC236}">
                <a16:creationId xmlns:a16="http://schemas.microsoft.com/office/drawing/2014/main" id="{D6393B46-31BE-DBCA-6B46-577B531BE18C}"/>
              </a:ext>
            </a:extLst>
          </p:cNvPr>
          <p:cNvSpPr/>
          <p:nvPr/>
        </p:nvSpPr>
        <p:spPr>
          <a:xfrm>
            <a:off x="457200" y="-632460"/>
            <a:ext cx="8229600" cy="548640"/>
          </a:xfrm>
          <a:prstGeom prst="round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3">
            <a:extLst>
              <a:ext uri="{FF2B5EF4-FFF2-40B4-BE49-F238E27FC236}">
                <a16:creationId xmlns:a16="http://schemas.microsoft.com/office/drawing/2014/main" id="{4088846F-19B9-3A65-3DD7-7DCD073CAA74}"/>
              </a:ext>
            </a:extLst>
          </p:cNvPr>
          <p:cNvSpPr/>
          <p:nvPr/>
        </p:nvSpPr>
        <p:spPr>
          <a:xfrm>
            <a:off x="457200" y="-4953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⚠️  CRITICAL WORKFORCE CRISIS DETECTED</a:t>
            </a:r>
            <a:endParaRPr lang="en-US" sz="24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53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Executive Summary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274320" cy="4572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548640"/>
          </a:xfrm>
          <a:prstGeom prst="round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⚠️  CRITICAL WORKFORCE CRISIS DETECTED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40080" y="2011680"/>
            <a:ext cx="1828800" cy="146304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21945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👥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640080" y="26517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5,000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40080" y="3063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Workforce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0" y="2011680"/>
            <a:ext cx="1828800" cy="146304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743200" y="21945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⚠️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2743200" y="26517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6394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66.7%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2743200" y="3063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Turnover Risk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846320" y="2011680"/>
            <a:ext cx="1828800" cy="146304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846320" y="21945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😰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4846320" y="26517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6394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44.4%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4846320" y="3063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Burnout Rate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949440" y="2011680"/>
            <a:ext cx="1828800" cy="146304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949440" y="21945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📊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6949440" y="26517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6394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7.33/10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6949440" y="3063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Stress Level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0080" y="37490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5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Findings: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40080" y="411480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3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29.2% of workforce in HIGH-RISK category (high stress + burnout + low satisfaction)</a:t>
            </a:r>
            <a:endParaRPr lang="en-US" sz="13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3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21.6% stressed employees have NO access to Employee Assistance Programs</a:t>
            </a:r>
            <a:endParaRPr lang="en-US" sz="13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3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Heavy Workload affects 42.8% of employees - primary stress driver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53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Research Methodology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274320" cy="4572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1316736"/>
            <a:ext cx="8229600" cy="1335024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53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Dataset Overview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Size: 5,000 healthcare employees  |  Period: 2024 Annual Survey  |  Data Points: 13 variables per employee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1488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b="1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Variables: </a:t>
            </a:r>
            <a:r>
              <a:rPr lang="en-US" sz="11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demographics, Stress levels (1-10), Burnout frequency, Job satisfaction (1-5), Mental health absences, Turnover intention, EAP access, Workplace factors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61703" y="2688336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53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Analysis Methods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31520" y="3017520"/>
            <a:ext cx="137160" cy="13716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05840" y="301752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 Table Analysis - Cross-tabulation of key metrics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3291840"/>
            <a:ext cx="137160" cy="13716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005840" y="329184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 Statistics - Central tendency &amp; distribution analysis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3566160"/>
            <a:ext cx="137160" cy="13716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005840" y="356616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Segmentation - Identification of high-risk employee groups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" y="3840480"/>
            <a:ext cx="137160" cy="13716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005840" y="384048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Analysis - Relationship between stress factors and outcomes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0" y="4297680"/>
            <a:ext cx="3657600" cy="457200"/>
          </a:xfrm>
          <a:prstGeom prst="roundRect">
            <a:avLst/>
          </a:prstGeom>
          <a:solidFill>
            <a:srgbClr val="1A53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743200" y="4407408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Microsoft Excel | Pivot Tables | Statistical Analysis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53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Workforce Composition Analysis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274320" cy="4572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53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 Employee Types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 Nurse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194560" y="1691640"/>
            <a:ext cx="2743200" cy="320040"/>
          </a:xfrm>
          <a:prstGeom prst="round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931492" y="169164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1283 (25.7%)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640080" y="214884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Assistant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194560" y="2148840"/>
            <a:ext cx="1096852" cy="320040"/>
          </a:xfrm>
          <a:prstGeom prst="round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382852" y="214884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513 (10.3%)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260604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Admin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194560" y="2606040"/>
            <a:ext cx="1084024" cy="320040"/>
          </a:xfrm>
          <a:prstGeom prst="round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370024" y="260604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507 (10.1%)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306324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Nursing Assistant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194560" y="3063240"/>
            <a:ext cx="1073333" cy="320040"/>
          </a:xfrm>
          <a:prstGeom prst="round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359333" y="306324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502 (10%)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" y="352044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Care Nurse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194560" y="3520440"/>
            <a:ext cx="1043400" cy="320040"/>
          </a:xfrm>
          <a:prstGeom prst="round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329400" y="352044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488 (9.8%)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46320" y="10058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53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 Departments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028772" y="171450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Medicine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00800" y="1691640"/>
            <a:ext cx="2692400" cy="320040"/>
          </a:xfrm>
          <a:prstGeom prst="round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8206740" y="169164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1283 (25.7%)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24" name="Text 22"/>
          <p:cNvSpPr/>
          <p:nvPr/>
        </p:nvSpPr>
        <p:spPr>
          <a:xfrm>
            <a:off x="4846320" y="214884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Outpatient Services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400800" y="2148840"/>
            <a:ext cx="1096852" cy="320040"/>
          </a:xfrm>
          <a:prstGeom prst="round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589092" y="214884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513 (10.3%)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46320" y="260604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Administration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00800" y="2606040"/>
            <a:ext cx="1084024" cy="320040"/>
          </a:xfrm>
          <a:prstGeom prst="round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7576264" y="260604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507 (10.1%)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846320" y="306324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Assisted Living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400800" y="3063240"/>
            <a:ext cx="1073333" cy="320040"/>
          </a:xfrm>
          <a:prstGeom prst="round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7565573" y="306324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502 (10%)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846320" y="352044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ICU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400800" y="3520440"/>
            <a:ext cx="1043400" cy="320040"/>
          </a:xfrm>
          <a:prstGeom prst="round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7535640" y="352044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488 (9.8%)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40080" y="4114800"/>
            <a:ext cx="7863840" cy="548640"/>
          </a:xfrm>
          <a:prstGeom prst="roundRect">
            <a:avLst/>
          </a:prstGeom>
          <a:solidFill>
            <a:srgbClr val="02C39A"/>
          </a:solidFill>
          <a:ln w="254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822960" y="425196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Insight: General Medicine has the largest workforce (25.7%) and highest burnout rate - priority intervention area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53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Stress Level Analysis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274320" cy="4572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463040" y="1389888"/>
            <a:ext cx="2743200" cy="1645920"/>
          </a:xfrm>
          <a:prstGeom prst="round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371600" y="138074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Stress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71600" y="192024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7.33/10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371600" y="269748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CRITICALLY HIGH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0" y="13716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53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Level Distribution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0" y="178308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303520" y="1783080"/>
            <a:ext cx="670540" cy="228600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019780" y="178308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317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0" y="2039112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5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303520" y="2039112"/>
            <a:ext cx="547854" cy="22860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897094" y="2039112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259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0" y="2295144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6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303520" y="2295144"/>
            <a:ext cx="1305120" cy="228600"/>
          </a:xfrm>
          <a:prstGeom prst="rect">
            <a:avLst/>
          </a:prstGeom>
          <a:solidFill>
            <a:srgbClr val="FFB70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654360" y="2295144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617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0" y="2551176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7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303520" y="2551176"/>
            <a:ext cx="2512938" cy="228600"/>
          </a:xfrm>
          <a:prstGeom prst="rect">
            <a:avLst/>
          </a:prstGeom>
          <a:solidFill>
            <a:srgbClr val="FB85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862178" y="2551176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1,188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0" y="2807208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8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303520" y="2807208"/>
            <a:ext cx="3200400" cy="22860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8549640" y="2807208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1,513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0" y="306324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9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303520" y="3063240"/>
            <a:ext cx="2339486" cy="228600"/>
          </a:xfrm>
          <a:prstGeom prst="rect">
            <a:avLst/>
          </a:prstGeom>
          <a:solidFill>
            <a:srgbClr val="9D020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688726" y="306324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1,106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40080" y="3410712"/>
            <a:ext cx="7863840" cy="1252728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822960" y="347472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Critical Finding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22960" y="3840480"/>
            <a:ext cx="7498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3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53.8% of employees report stress levels 8-9 (severe stress)</a:t>
            </a:r>
            <a:endParaRPr lang="en-US" sz="13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3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Only 6.3% report low stress (levels 4-5)</a:t>
            </a:r>
            <a:endParaRPr lang="en-US" sz="13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3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Median stress level: 8/10 - indicating widespread crisis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53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Root Cause Analysis: Workplace Factors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274320" cy="4572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6811" y="1001268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Driving the Crisis?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298448"/>
            <a:ext cx="7863840" cy="4572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34416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Workload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108960" y="1408176"/>
            <a:ext cx="1369771" cy="237744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0171" y="1344168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42.8%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83680" y="1344168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(2,138 employees)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0" y="134416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Stress: 8.20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1938528"/>
            <a:ext cx="7863840" cy="4572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B8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31520" y="198424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Work Environment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108960" y="2048256"/>
            <a:ext cx="716890" cy="237744"/>
          </a:xfrm>
          <a:prstGeom prst="rect">
            <a:avLst/>
          </a:prstGeom>
          <a:solidFill>
            <a:srgbClr val="FB85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917290" y="1984248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B8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22.4%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583680" y="1984248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(1,122 employees)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772400" y="198424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Stress: 6.99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48640" y="2578608"/>
            <a:ext cx="7863840" cy="4572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31520" y="262432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Stagnation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108960" y="2688336"/>
            <a:ext cx="339242" cy="237744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539642" y="2624328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10.6%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583680" y="2624328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(531 employees)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772400" y="262432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Stress: 4.70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48640" y="3218688"/>
            <a:ext cx="7863840" cy="4572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31520" y="326440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Concerns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108960" y="3328416"/>
            <a:ext cx="265633" cy="237744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466033" y="3264408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8.3%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583680" y="3264408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(415 employees)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772400" y="326440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Stress: 8.01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48640" y="3858768"/>
            <a:ext cx="7863840" cy="4572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731520" y="390448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Work-Life Imbalance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3108960" y="3968496"/>
            <a:ext cx="217627" cy="237744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418027" y="3904488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6.8%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583680" y="3904488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(340 employees)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772400" y="390448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Stress: 8.02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48640" y="4498848"/>
            <a:ext cx="7863840" cy="4572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731520" y="454456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Emotional Demands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3108960" y="4608576"/>
            <a:ext cx="144018" cy="237744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3344418" y="4544568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4.5%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583680" y="4544568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(223 employees)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7772400" y="454456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Stress: 6.77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1280160" y="5398008"/>
            <a:ext cx="6400800" cy="548640"/>
          </a:xfrm>
          <a:prstGeom prst="round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1463040" y="5535168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PRIMARY TARGET: Heavy Workload affects 42.8% of workforce with 8.20 avg stress - URGENT intervention needed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1AB9900-AC05-EBB6-8EB6-448D440FB8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111A704-0ACC-03C8-D3F5-EC5091B678F8}"/>
              </a:ext>
            </a:extLst>
          </p:cNvPr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53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Root Cause Analysis: Workplace Factors</a:t>
            </a:r>
            <a:endParaRPr lang="en-US" sz="32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BDB7E09D-61FB-4570-95ED-0421280F9AC4}"/>
              </a:ext>
            </a:extLst>
          </p:cNvPr>
          <p:cNvSpPr/>
          <p:nvPr/>
        </p:nvSpPr>
        <p:spPr>
          <a:xfrm>
            <a:off x="457200" y="960120"/>
            <a:ext cx="274320" cy="4572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34912D6-FBC3-94AE-0251-23F2D219D0AE}"/>
              </a:ext>
            </a:extLst>
          </p:cNvPr>
          <p:cNvSpPr/>
          <p:nvPr/>
        </p:nvSpPr>
        <p:spPr>
          <a:xfrm>
            <a:off x="546811" y="1001268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Driving the Crisis?</a:t>
            </a:r>
            <a:endParaRPr lang="en-US" sz="16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210A510B-8BD3-F7C6-C979-81F0589C99EA}"/>
              </a:ext>
            </a:extLst>
          </p:cNvPr>
          <p:cNvSpPr/>
          <p:nvPr/>
        </p:nvSpPr>
        <p:spPr>
          <a:xfrm>
            <a:off x="548640" y="1298448"/>
            <a:ext cx="7863840" cy="4572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0FA021B1-D893-CBAA-3DA1-767F24DB7571}"/>
              </a:ext>
            </a:extLst>
          </p:cNvPr>
          <p:cNvSpPr/>
          <p:nvPr/>
        </p:nvSpPr>
        <p:spPr>
          <a:xfrm>
            <a:off x="731520" y="134416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Workload</a:t>
            </a:r>
            <a:endParaRPr lang="en-US" sz="13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542A3A0B-07B6-BFE2-D8C3-F9AAA6D632F4}"/>
              </a:ext>
            </a:extLst>
          </p:cNvPr>
          <p:cNvSpPr/>
          <p:nvPr/>
        </p:nvSpPr>
        <p:spPr>
          <a:xfrm>
            <a:off x="3108960" y="1408176"/>
            <a:ext cx="1369771" cy="237744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69826D8B-ECF7-B3FC-66E0-3B1A882A87F5}"/>
              </a:ext>
            </a:extLst>
          </p:cNvPr>
          <p:cNvSpPr/>
          <p:nvPr/>
        </p:nvSpPr>
        <p:spPr>
          <a:xfrm>
            <a:off x="4570171" y="1344168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42.8%</a:t>
            </a:r>
            <a:endParaRPr lang="en-US" sz="12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2AA7676B-E63F-CDA4-3969-3B302DFB482D}"/>
              </a:ext>
            </a:extLst>
          </p:cNvPr>
          <p:cNvSpPr/>
          <p:nvPr/>
        </p:nvSpPr>
        <p:spPr>
          <a:xfrm>
            <a:off x="6583680" y="1344168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(2,138 employees)</a:t>
            </a:r>
            <a:endParaRPr lang="en-US" sz="10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E4BECA6A-5F70-7CC5-D841-CC603009027D}"/>
              </a:ext>
            </a:extLst>
          </p:cNvPr>
          <p:cNvSpPr/>
          <p:nvPr/>
        </p:nvSpPr>
        <p:spPr>
          <a:xfrm>
            <a:off x="7772400" y="134416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Stress: 8.20</a:t>
            </a:r>
            <a:endParaRPr lang="en-US" sz="9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7BC462CD-F24C-8BA1-9B2F-B1F6C64A63F1}"/>
              </a:ext>
            </a:extLst>
          </p:cNvPr>
          <p:cNvSpPr/>
          <p:nvPr/>
        </p:nvSpPr>
        <p:spPr>
          <a:xfrm>
            <a:off x="548640" y="1938528"/>
            <a:ext cx="7863840" cy="4572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B8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AD69ECBB-79E0-8F91-E93C-A8D27C3BBA76}"/>
              </a:ext>
            </a:extLst>
          </p:cNvPr>
          <p:cNvSpPr/>
          <p:nvPr/>
        </p:nvSpPr>
        <p:spPr>
          <a:xfrm>
            <a:off x="731520" y="198424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Work Environment</a:t>
            </a:r>
            <a:endParaRPr lang="en-US" sz="13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F4B2FA15-95B7-7707-48F2-6184D68A8994}"/>
              </a:ext>
            </a:extLst>
          </p:cNvPr>
          <p:cNvSpPr/>
          <p:nvPr/>
        </p:nvSpPr>
        <p:spPr>
          <a:xfrm>
            <a:off x="3108960" y="2048256"/>
            <a:ext cx="716890" cy="237744"/>
          </a:xfrm>
          <a:prstGeom prst="rect">
            <a:avLst/>
          </a:prstGeom>
          <a:solidFill>
            <a:srgbClr val="FB85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F69FC938-664A-E3C2-A4A6-58D1C94C8276}"/>
              </a:ext>
            </a:extLst>
          </p:cNvPr>
          <p:cNvSpPr/>
          <p:nvPr/>
        </p:nvSpPr>
        <p:spPr>
          <a:xfrm>
            <a:off x="3917290" y="1984248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B8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22.4%</a:t>
            </a:r>
            <a:endParaRPr lang="en-US" sz="12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1EF2A8CE-B778-843B-C96B-360ECCB4D259}"/>
              </a:ext>
            </a:extLst>
          </p:cNvPr>
          <p:cNvSpPr/>
          <p:nvPr/>
        </p:nvSpPr>
        <p:spPr>
          <a:xfrm>
            <a:off x="6583680" y="1984248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(1,122 employees)</a:t>
            </a:r>
            <a:endParaRPr lang="en-US" sz="10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905CE438-A99F-730D-A720-B6738448E9AA}"/>
              </a:ext>
            </a:extLst>
          </p:cNvPr>
          <p:cNvSpPr/>
          <p:nvPr/>
        </p:nvSpPr>
        <p:spPr>
          <a:xfrm>
            <a:off x="7772400" y="198424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Stress: 6.99</a:t>
            </a:r>
            <a:endParaRPr lang="en-US" sz="900" dirty="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B699B97A-0EA5-823A-5181-787B643C589A}"/>
              </a:ext>
            </a:extLst>
          </p:cNvPr>
          <p:cNvSpPr/>
          <p:nvPr/>
        </p:nvSpPr>
        <p:spPr>
          <a:xfrm>
            <a:off x="548640" y="2578608"/>
            <a:ext cx="7863840" cy="4572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17E0C6B9-73ED-15CA-DDCC-D4AEAFA2EF0C}"/>
              </a:ext>
            </a:extLst>
          </p:cNvPr>
          <p:cNvSpPr/>
          <p:nvPr/>
        </p:nvSpPr>
        <p:spPr>
          <a:xfrm>
            <a:off x="731520" y="262432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Stagnation</a:t>
            </a:r>
            <a:endParaRPr lang="en-US" sz="1300" dirty="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EE60BDD9-8DBD-0A95-767B-4891F3930676}"/>
              </a:ext>
            </a:extLst>
          </p:cNvPr>
          <p:cNvSpPr/>
          <p:nvPr/>
        </p:nvSpPr>
        <p:spPr>
          <a:xfrm>
            <a:off x="3108960" y="2688336"/>
            <a:ext cx="339242" cy="237744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89CDC56D-96B8-A083-4313-C6873F3090C0}"/>
              </a:ext>
            </a:extLst>
          </p:cNvPr>
          <p:cNvSpPr/>
          <p:nvPr/>
        </p:nvSpPr>
        <p:spPr>
          <a:xfrm>
            <a:off x="3539642" y="2624328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10.6%</a:t>
            </a:r>
            <a:endParaRPr lang="en-US" sz="120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3440F3A2-D916-12E4-751B-6ADA6854EB64}"/>
              </a:ext>
            </a:extLst>
          </p:cNvPr>
          <p:cNvSpPr/>
          <p:nvPr/>
        </p:nvSpPr>
        <p:spPr>
          <a:xfrm>
            <a:off x="6583680" y="2624328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(531 employees)</a:t>
            </a:r>
            <a:endParaRPr lang="en-US" sz="100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41A1AE80-F597-26A3-DD40-196F5D64A75D}"/>
              </a:ext>
            </a:extLst>
          </p:cNvPr>
          <p:cNvSpPr/>
          <p:nvPr/>
        </p:nvSpPr>
        <p:spPr>
          <a:xfrm>
            <a:off x="7772400" y="262432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Stress: 4.70</a:t>
            </a:r>
            <a:endParaRPr lang="en-US" sz="900" dirty="0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FC18913A-6653-0EE0-7150-5D2AD27065D4}"/>
              </a:ext>
            </a:extLst>
          </p:cNvPr>
          <p:cNvSpPr/>
          <p:nvPr/>
        </p:nvSpPr>
        <p:spPr>
          <a:xfrm>
            <a:off x="548640" y="3218688"/>
            <a:ext cx="7863840" cy="4572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542A9408-136E-4552-48F0-26F0A7EE507E}"/>
              </a:ext>
            </a:extLst>
          </p:cNvPr>
          <p:cNvSpPr/>
          <p:nvPr/>
        </p:nvSpPr>
        <p:spPr>
          <a:xfrm>
            <a:off x="731520" y="326440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Concerns</a:t>
            </a:r>
            <a:endParaRPr lang="en-US" sz="1300" dirty="0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8249420C-ACF8-06EA-0F14-DAA93F94D217}"/>
              </a:ext>
            </a:extLst>
          </p:cNvPr>
          <p:cNvSpPr/>
          <p:nvPr/>
        </p:nvSpPr>
        <p:spPr>
          <a:xfrm>
            <a:off x="3108960" y="3328416"/>
            <a:ext cx="265633" cy="237744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0179DDE1-4A08-8973-9D85-40359107CEF9}"/>
              </a:ext>
            </a:extLst>
          </p:cNvPr>
          <p:cNvSpPr/>
          <p:nvPr/>
        </p:nvSpPr>
        <p:spPr>
          <a:xfrm>
            <a:off x="3466033" y="3264408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8.3%</a:t>
            </a:r>
            <a:endParaRPr lang="en-US" sz="1200" dirty="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BD94E717-C511-4858-BA9E-CAB304F10A59}"/>
              </a:ext>
            </a:extLst>
          </p:cNvPr>
          <p:cNvSpPr/>
          <p:nvPr/>
        </p:nvSpPr>
        <p:spPr>
          <a:xfrm>
            <a:off x="6583680" y="3264408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(415 employees)</a:t>
            </a:r>
            <a:endParaRPr lang="en-US" sz="1000" dirty="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FA779B4E-8A76-E14C-9C55-F6F9B0DC9B63}"/>
              </a:ext>
            </a:extLst>
          </p:cNvPr>
          <p:cNvSpPr/>
          <p:nvPr/>
        </p:nvSpPr>
        <p:spPr>
          <a:xfrm>
            <a:off x="7772400" y="326440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Stress: 8.01</a:t>
            </a:r>
            <a:endParaRPr lang="en-US" sz="900" dirty="0"/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BBD46A36-E7A2-A4D5-F42A-118F6370E9B0}"/>
              </a:ext>
            </a:extLst>
          </p:cNvPr>
          <p:cNvSpPr/>
          <p:nvPr/>
        </p:nvSpPr>
        <p:spPr>
          <a:xfrm>
            <a:off x="548640" y="3858768"/>
            <a:ext cx="7863840" cy="4572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30C8EA5D-B356-0C8C-E069-D2AF4318AFB6}"/>
              </a:ext>
            </a:extLst>
          </p:cNvPr>
          <p:cNvSpPr/>
          <p:nvPr/>
        </p:nvSpPr>
        <p:spPr>
          <a:xfrm>
            <a:off x="731520" y="390448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Work-Life Imbalance</a:t>
            </a:r>
            <a:endParaRPr lang="en-US" sz="1300" dirty="0"/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B1843511-EE93-6E76-9D59-10549553386F}"/>
              </a:ext>
            </a:extLst>
          </p:cNvPr>
          <p:cNvSpPr/>
          <p:nvPr/>
        </p:nvSpPr>
        <p:spPr>
          <a:xfrm>
            <a:off x="3108960" y="3968496"/>
            <a:ext cx="217627" cy="237744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1B4615AF-70D2-4246-C7E6-563FD64A29A5}"/>
              </a:ext>
            </a:extLst>
          </p:cNvPr>
          <p:cNvSpPr/>
          <p:nvPr/>
        </p:nvSpPr>
        <p:spPr>
          <a:xfrm>
            <a:off x="3418027" y="3904488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6.8%</a:t>
            </a:r>
            <a:endParaRPr lang="en-US" sz="1200" dirty="0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11A5E2AC-2CDB-9CA6-2018-0E701187CCAA}"/>
              </a:ext>
            </a:extLst>
          </p:cNvPr>
          <p:cNvSpPr/>
          <p:nvPr/>
        </p:nvSpPr>
        <p:spPr>
          <a:xfrm>
            <a:off x="6583680" y="3904488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(340 employees)</a:t>
            </a:r>
            <a:endParaRPr lang="en-US" sz="1000" dirty="0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2D1CDFEE-7014-3557-F816-5A6A7775DBF0}"/>
              </a:ext>
            </a:extLst>
          </p:cNvPr>
          <p:cNvSpPr/>
          <p:nvPr/>
        </p:nvSpPr>
        <p:spPr>
          <a:xfrm>
            <a:off x="7772400" y="390448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Stress: 8.02</a:t>
            </a:r>
            <a:endParaRPr lang="en-US" sz="900" dirty="0"/>
          </a:p>
        </p:txBody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CE377CD3-BAA7-636E-BFCB-ED7894B33247}"/>
              </a:ext>
            </a:extLst>
          </p:cNvPr>
          <p:cNvSpPr/>
          <p:nvPr/>
        </p:nvSpPr>
        <p:spPr>
          <a:xfrm>
            <a:off x="548640" y="4498848"/>
            <a:ext cx="7863840" cy="4572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825CF77A-7342-1C90-2A08-986C5FD1BAC1}"/>
              </a:ext>
            </a:extLst>
          </p:cNvPr>
          <p:cNvSpPr/>
          <p:nvPr/>
        </p:nvSpPr>
        <p:spPr>
          <a:xfrm>
            <a:off x="731520" y="454456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Emotional Demands</a:t>
            </a:r>
            <a:endParaRPr lang="en-US" sz="1300" dirty="0"/>
          </a:p>
        </p:txBody>
      </p:sp>
      <p:sp>
        <p:nvSpPr>
          <p:cNvPr id="37" name="Shape 35">
            <a:extLst>
              <a:ext uri="{FF2B5EF4-FFF2-40B4-BE49-F238E27FC236}">
                <a16:creationId xmlns:a16="http://schemas.microsoft.com/office/drawing/2014/main" id="{3D959173-944F-8B4F-71C0-5191C9AE01D3}"/>
              </a:ext>
            </a:extLst>
          </p:cNvPr>
          <p:cNvSpPr/>
          <p:nvPr/>
        </p:nvSpPr>
        <p:spPr>
          <a:xfrm>
            <a:off x="3108960" y="4608576"/>
            <a:ext cx="144018" cy="237744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78B07D92-F7F1-AFAA-8DB2-B158C5E4962D}"/>
              </a:ext>
            </a:extLst>
          </p:cNvPr>
          <p:cNvSpPr/>
          <p:nvPr/>
        </p:nvSpPr>
        <p:spPr>
          <a:xfrm>
            <a:off x="3344418" y="4544568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4.5%</a:t>
            </a:r>
            <a:endParaRPr lang="en-US" sz="1200" dirty="0"/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44E09B50-82ED-C562-1C28-591464B6C28D}"/>
              </a:ext>
            </a:extLst>
          </p:cNvPr>
          <p:cNvSpPr/>
          <p:nvPr/>
        </p:nvSpPr>
        <p:spPr>
          <a:xfrm>
            <a:off x="6583680" y="4544568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(223 employees)</a:t>
            </a:r>
            <a:endParaRPr lang="en-US" sz="1000" dirty="0"/>
          </a:p>
        </p:txBody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59323B68-CC59-A697-6581-A48BAE36D913}"/>
              </a:ext>
            </a:extLst>
          </p:cNvPr>
          <p:cNvSpPr/>
          <p:nvPr/>
        </p:nvSpPr>
        <p:spPr>
          <a:xfrm>
            <a:off x="7772400" y="454456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Stress: 6.77</a:t>
            </a:r>
            <a:endParaRPr lang="en-US" sz="900" dirty="0"/>
          </a:p>
        </p:txBody>
      </p:sp>
      <p:sp>
        <p:nvSpPr>
          <p:cNvPr id="41" name="Shape 39">
            <a:extLst>
              <a:ext uri="{FF2B5EF4-FFF2-40B4-BE49-F238E27FC236}">
                <a16:creationId xmlns:a16="http://schemas.microsoft.com/office/drawing/2014/main" id="{F74D6902-3870-4258-F0C3-56721FC77500}"/>
              </a:ext>
            </a:extLst>
          </p:cNvPr>
          <p:cNvSpPr/>
          <p:nvPr/>
        </p:nvSpPr>
        <p:spPr>
          <a:xfrm>
            <a:off x="1280160" y="4133088"/>
            <a:ext cx="6400800" cy="548640"/>
          </a:xfrm>
          <a:prstGeom prst="round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>
            <a:extLst>
              <a:ext uri="{FF2B5EF4-FFF2-40B4-BE49-F238E27FC236}">
                <a16:creationId xmlns:a16="http://schemas.microsoft.com/office/drawing/2014/main" id="{AEEF35BF-0B7D-BFB5-57EB-9963A992ED76}"/>
              </a:ext>
            </a:extLst>
          </p:cNvPr>
          <p:cNvSpPr/>
          <p:nvPr/>
        </p:nvSpPr>
        <p:spPr>
          <a:xfrm>
            <a:off x="1463040" y="4270248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PRIMARY TARGET: Heavy Workload affects 42.8% of workforce with 8.20 avg stress - URGENT intervention needed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09038065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53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Burnout Crisis Assessment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95300" y="838200"/>
            <a:ext cx="274320" cy="4572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188720" y="1371600"/>
            <a:ext cx="2194560" cy="1828800"/>
          </a:xfrm>
          <a:prstGeom prst="roundRect">
            <a:avLst/>
          </a:prstGeom>
          <a:solidFill>
            <a:srgbClr val="FFFFFF"/>
          </a:solidFill>
          <a:ln w="508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88720" y="15544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dirty="0">
                <a:solidFill>
                  <a:srgbClr val="000000"/>
                </a:solidFill>
              </a:rPr>
              <a:t>🔴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1188720" y="20574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E6394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44.4%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1188720" y="26060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Often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88720" y="2926080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2,221 employees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749040" y="1371600"/>
            <a:ext cx="2194560" cy="1828800"/>
          </a:xfrm>
          <a:prstGeom prst="roundRect">
            <a:avLst/>
          </a:prstGeom>
          <a:solidFill>
            <a:srgbClr val="FFFFFF"/>
          </a:solidFill>
          <a:ln w="50800">
            <a:solidFill>
              <a:srgbClr val="FFB70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749040" y="15544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dirty="0">
                <a:solidFill>
                  <a:srgbClr val="000000"/>
                </a:solidFill>
              </a:rPr>
              <a:t>🟡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3749040" y="20574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B70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38.8%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3749040" y="26060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Occasionally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749040" y="2926080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1,941 employees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309360" y="1371600"/>
            <a:ext cx="2194560" cy="1828800"/>
          </a:xfrm>
          <a:prstGeom prst="roundRect">
            <a:avLst/>
          </a:prstGeom>
          <a:solidFill>
            <a:srgbClr val="FFFFFF"/>
          </a:solidFill>
          <a:ln w="508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309360" y="15544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dirty="0">
                <a:solidFill>
                  <a:srgbClr val="000000"/>
                </a:solidFill>
              </a:rPr>
              <a:t>🟢</a:t>
            </a:r>
            <a:endParaRPr lang="en-US" sz="4800" dirty="0"/>
          </a:p>
        </p:txBody>
      </p:sp>
      <p:sp>
        <p:nvSpPr>
          <p:cNvPr id="16" name="Text 14"/>
          <p:cNvSpPr/>
          <p:nvPr/>
        </p:nvSpPr>
        <p:spPr>
          <a:xfrm>
            <a:off x="6309360" y="20574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2C3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16.8%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6309360" y="26060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309360" y="2926080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838 employees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" y="34747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53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 Departments with Highest Burnout (Often)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0080" y="384048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Medicine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0" y="3840480"/>
            <a:ext cx="4572000" cy="22860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406640" y="384048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610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0080" y="4096512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ICU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0" y="4096512"/>
            <a:ext cx="1873770" cy="22860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708410" y="409651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0080" y="4352544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Outpatient Services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743200" y="4352544"/>
            <a:ext cx="1731364" cy="22860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566004" y="4352544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231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40080" y="4608576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Assisted Living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743200" y="4608576"/>
            <a:ext cx="1708879" cy="22860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543519" y="4608576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228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40080" y="486460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Practice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743200" y="4864608"/>
            <a:ext cx="1356610" cy="22860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191250" y="4864608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181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53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Job Satisfaction Crisis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274320" cy="4572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828800" y="1371600"/>
            <a:ext cx="5486400" cy="1645920"/>
          </a:xfrm>
          <a:prstGeom prst="round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828800" y="1554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Job Satisfaction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828800" y="192024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2.20 / 5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1828800" y="269748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44% SATISFACTION RATE - CRITICAL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32918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53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Satisfaction Distribution by Category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36576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(1-2)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103120" y="3657600"/>
            <a:ext cx="3621024" cy="365760"/>
          </a:xfrm>
          <a:prstGeom prst="round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815584" y="365760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66%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38544" y="36576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(3,300 employees)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40690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(3)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103120" y="4069080"/>
            <a:ext cx="1108253" cy="365760"/>
          </a:xfrm>
          <a:prstGeom prst="roundRect">
            <a:avLst/>
          </a:prstGeom>
          <a:solidFill>
            <a:srgbClr val="FFB70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302813" y="406908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20.2%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125773" y="40690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(1,010 employees)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" y="44805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(4-5)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103120" y="4480560"/>
            <a:ext cx="757123" cy="365760"/>
          </a:xfrm>
          <a:prstGeom prst="round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951683" y="448056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13.8%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774643" y="44805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(690 employees)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53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Turnover Risk Assessment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274320" cy="4572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7863840" cy="640080"/>
          </a:xfrm>
          <a:prstGeom prst="round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🚨  66.7% OF WORKFORCE INTENDS TO LEAVE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057400" y="2103120"/>
            <a:ext cx="2286000" cy="1463040"/>
          </a:xfrm>
          <a:prstGeom prst="roundRect">
            <a:avLst/>
          </a:prstGeom>
          <a:solidFill>
            <a:srgbClr val="FFFFFF"/>
          </a:solidFill>
          <a:ln w="508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057400" y="22860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❌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2057400" y="27432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E6394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66.7%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2057400" y="324612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Intends to Leave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800600" y="2103120"/>
            <a:ext cx="2286000" cy="1463040"/>
          </a:xfrm>
          <a:prstGeom prst="roundRect">
            <a:avLst/>
          </a:prstGeom>
          <a:solidFill>
            <a:srgbClr val="FFFFFF"/>
          </a:solidFill>
          <a:ln w="508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800600" y="22860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000000"/>
                </a:solidFill>
              </a:rPr>
              <a:t>✅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4800600" y="27432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02C3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33.3%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4800600" y="324612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Staying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38404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53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Turnover Rate by Department (Top 5 Highest)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4206240"/>
            <a:ext cx="18288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Practice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560320" y="4206240"/>
            <a:ext cx="3415284" cy="13716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021324" y="4206240"/>
            <a:ext cx="5486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74.7%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0080" y="4370832"/>
            <a:ext cx="18288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ICU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560320" y="4370832"/>
            <a:ext cx="3250692" cy="13716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856732" y="4370832"/>
            <a:ext cx="5486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71.1%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0080" y="4535424"/>
            <a:ext cx="18288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Medicine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560320" y="4535424"/>
            <a:ext cx="3186684" cy="13716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792724" y="4535424"/>
            <a:ext cx="5486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69.7%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0080" y="4700016"/>
            <a:ext cx="18288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Assisted Living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560320" y="4700016"/>
            <a:ext cx="3122676" cy="13716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728716" y="4700016"/>
            <a:ext cx="5486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68.3%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40080" y="4864608"/>
            <a:ext cx="18288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Outpatient Services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560320" y="4864608"/>
            <a:ext cx="3099816" cy="13716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705856" y="4864608"/>
            <a:ext cx="5486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67.8%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53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Employee Assistance Program (EAP) Access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274320" cy="4572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828800" y="1371600"/>
            <a:ext cx="2286000" cy="1371600"/>
          </a:xfrm>
          <a:prstGeom prst="round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828800" y="16459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71.9%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1828800" y="22860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EAP Access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828800" y="256032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(3,594)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0" y="1371600"/>
            <a:ext cx="2286000" cy="1371600"/>
          </a:xfrm>
          <a:prstGeom prst="round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0" y="16459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28.1%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4572000" y="22860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EAP Access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0" y="256032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(1,406)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22960" y="3204972"/>
            <a:ext cx="5844540" cy="9144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22960" y="2878074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Critical Service Gap Identified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60120" y="3347847"/>
            <a:ext cx="7498080" cy="6286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1,081 employees (21.6%) are highly stressed (level 7+) but have NO access to EAP</a:t>
            </a:r>
            <a:endParaRPr lang="en-US" sz="12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These employees are at extreme risk of burnout and turnover</a:t>
            </a:r>
            <a:endParaRPr lang="en-US" sz="12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Immediate action required: Expand EAP coverage to high-stress groups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2960" y="417957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53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Mental Health Absences Impact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2286000" y="4480560"/>
            <a:ext cx="4572000" cy="457200"/>
          </a:xfrm>
          <a:prstGeom prst="roundRect">
            <a:avLst/>
          </a:prstGeom>
          <a:solidFill>
            <a:srgbClr val="1A53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286000" y="4590288"/>
            <a:ext cx="4572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Average: 7.4 days/year per employee | Total: 37,000 days lost annually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53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High-Risk Employee Segmentation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274320" cy="4572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7863840" cy="731520"/>
          </a:xfrm>
          <a:prstGeom prst="round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1325880"/>
            <a:ext cx="7498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HIGH-RISK CRITERIA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1600200"/>
            <a:ext cx="7498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Level ≥ 8  +  Burnout Frequency = Often  +  Job Satisfaction ≤ 2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286000" y="2194560"/>
            <a:ext cx="4572000" cy="1645920"/>
          </a:xfrm>
          <a:prstGeom prst="roundRect">
            <a:avLst/>
          </a:prstGeom>
          <a:solidFill>
            <a:srgbClr val="FFFFFF"/>
          </a:solidFill>
          <a:ln w="635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286000" y="23774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HIGH-RISK EMPLOYEES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518410" y="2834640"/>
            <a:ext cx="41071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E6394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1,461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2286000" y="34747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29.2% of Total Workforce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0080" y="390906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53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Implications: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418338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Highest probability of turnover - immediate retention interventions needed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Increased likelihood of medical leave and reduced productivity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Requires urgent mental health support and workload reassessment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53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Strategic Recommendations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274320" cy="4572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" y="1280160"/>
            <a:ext cx="7863840" cy="77724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22960" y="1463040"/>
            <a:ext cx="411480" cy="411480"/>
          </a:xfrm>
          <a:prstGeom prst="ellipse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14630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7315200" y="1371600"/>
            <a:ext cx="914400" cy="228600"/>
          </a:xfrm>
          <a:prstGeom prst="round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315200" y="1371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371600" y="1389888"/>
            <a:ext cx="5760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53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Workload Reduction Initiative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371600" y="1606677"/>
            <a:ext cx="6766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Immediately address Heavy Workload affecting 42.8% of staff. Hire additional staff, redistribute tasks, implement mandatory break policies.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2167128"/>
            <a:ext cx="7863840" cy="77724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822960" y="2350008"/>
            <a:ext cx="411480" cy="411480"/>
          </a:xfrm>
          <a:prstGeom prst="ellipse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22960" y="235000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7315200" y="2258568"/>
            <a:ext cx="914400" cy="228600"/>
          </a:xfrm>
          <a:prstGeom prst="round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315200" y="2258568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371600" y="2276856"/>
            <a:ext cx="5760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53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Expand EAP Access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371600" y="2510790"/>
            <a:ext cx="6766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Employee Assistance Programs to all 1,406 employees currently without access, prioritizing the 1,081 high-stress individuals.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" y="3054096"/>
            <a:ext cx="7863840" cy="77724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FB8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822960" y="3236976"/>
            <a:ext cx="411480" cy="411480"/>
          </a:xfrm>
          <a:prstGeom prst="ellipse">
            <a:avLst/>
          </a:prstGeom>
          <a:solidFill>
            <a:srgbClr val="FB85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22960" y="323697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7315200" y="3145536"/>
            <a:ext cx="914400" cy="228600"/>
          </a:xfrm>
          <a:prstGeom prst="roundRect">
            <a:avLst/>
          </a:prstGeom>
          <a:solidFill>
            <a:srgbClr val="FB85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315200" y="3145536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371600" y="3163824"/>
            <a:ext cx="5760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53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High-Risk Employee Support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371600" y="3397758"/>
            <a:ext cx="6766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specialized intervention program for 1,461 high-risk employees with dedicated counseling, flexible scheduling, and wellness resources.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40080" y="3941064"/>
            <a:ext cx="7863840" cy="77724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FB8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822960" y="4123944"/>
            <a:ext cx="411480" cy="411480"/>
          </a:xfrm>
          <a:prstGeom prst="ellipse">
            <a:avLst/>
          </a:prstGeom>
          <a:solidFill>
            <a:srgbClr val="FB85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822960" y="412394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200" dirty="0"/>
          </a:p>
        </p:txBody>
      </p:sp>
      <p:sp>
        <p:nvSpPr>
          <p:cNvPr id="28" name="Shape 26"/>
          <p:cNvSpPr/>
          <p:nvPr/>
        </p:nvSpPr>
        <p:spPr>
          <a:xfrm>
            <a:off x="7315200" y="4032504"/>
            <a:ext cx="914400" cy="228600"/>
          </a:xfrm>
          <a:prstGeom prst="roundRect">
            <a:avLst/>
          </a:prstGeom>
          <a:solidFill>
            <a:srgbClr val="FB85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7315200" y="4032504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371600" y="4050792"/>
            <a:ext cx="5760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53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Department-Specific Interventions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1371600" y="4262628"/>
            <a:ext cx="6766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General Medicine (25.7% of workforce, highest burnout) and General Practice (74.7% turnover) with tailored retention strategies.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53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44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2C3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Conclusion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3657600" y="1493520"/>
            <a:ext cx="1828800" cy="4572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14400" y="1554480"/>
            <a:ext cx="7315200" cy="19888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analysis reveals a critical mental health crisis affecting the healthcare workforce.</a:t>
            </a:r>
            <a:endParaRPr lang="en-US" sz="1500" dirty="0"/>
          </a:p>
          <a:p>
            <a:pPr marL="0" indent="0" algn="ctr">
              <a:lnSpc>
                <a:spcPts val="22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marL="0" indent="0" algn="ctr">
              <a:lnSpc>
                <a:spcPts val="22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66.7% turnover risk, 44.4% burnout rate, and 29.2% high-risk employees, </a:t>
            </a:r>
            <a:endParaRPr lang="en-US" sz="1500" dirty="0"/>
          </a:p>
          <a:p>
            <a:pPr marL="0" indent="0" algn="ctr">
              <a:lnSpc>
                <a:spcPts val="22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intervention is essential to prevent workforce collapse.</a:t>
            </a:r>
            <a:endParaRPr lang="en-US" sz="1500" dirty="0"/>
          </a:p>
          <a:p>
            <a:pPr marL="0" indent="0" algn="ctr">
              <a:lnSpc>
                <a:spcPts val="22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marL="0" indent="0" algn="ctr">
              <a:lnSpc>
                <a:spcPts val="22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of the recommended strategies can significantly improve employee </a:t>
            </a:r>
            <a:endParaRPr lang="en-US" sz="1500" dirty="0"/>
          </a:p>
          <a:p>
            <a:pPr marL="0" indent="0" algn="ctr">
              <a:lnSpc>
                <a:spcPts val="22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wellbeing, reduce turnover, and ensure sustainable healthcare delivery.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371600" y="3657600"/>
            <a:ext cx="6400800" cy="731520"/>
          </a:xfrm>
          <a:prstGeom prst="round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554480" y="3886200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Action Items: Workload Reduction | EAP Expansion | High-Risk Support | Department Interventions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457200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 | Excel Pivot Tables | Healthcare Analytics | Strategic Planning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53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02C3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TERIMA KASIH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457200" y="2560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for Your Attention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0" y="3108960"/>
            <a:ext cx="1828800" cy="4572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600" dirty="0"/>
          </a:p>
          <a:p>
            <a:pPr marL="0" indent="0" algn="ctr">
              <a:lnSpc>
                <a:spcPts val="2200"/>
              </a:lnSpc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marL="0" indent="0" algn="ctr">
              <a:lnSpc>
                <a:spcPts val="2200"/>
              </a:lnSpc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work together to improve healthcare workforce wellbeing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1089</Words>
  <Application>Microsoft Office PowerPoint</Application>
  <PresentationFormat>On-screen Show (16:9)</PresentationFormat>
  <Paragraphs>271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Arial Black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Healthcare Workforce Mental Health Analysis</dc:title>
  <dc:subject>PptxGenJS Presentation</dc:subject>
  <dc:creator>Data Analyst Portfolio</dc:creator>
  <cp:lastModifiedBy>092 Bintang Diaz EP A</cp:lastModifiedBy>
  <cp:revision>2</cp:revision>
  <dcterms:created xsi:type="dcterms:W3CDTF">2026-02-03T03:27:52Z</dcterms:created>
  <dcterms:modified xsi:type="dcterms:W3CDTF">2026-02-03T03:40:55Z</dcterms:modified>
</cp:coreProperties>
</file>