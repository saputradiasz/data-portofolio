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4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PIZZA RESTAURANT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2015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035C5D5-B8AE-B624-0252-FD52672D395F}"/>
              </a:ext>
            </a:extLst>
          </p:cNvPr>
          <p:cNvSpPr/>
          <p:nvPr/>
        </p:nvSpPr>
        <p:spPr>
          <a:xfrm>
            <a:off x="594360" y="5590887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E23C304-C7F6-4319-6291-035E2D2D3B28}"/>
              </a:ext>
            </a:extLst>
          </p:cNvPr>
          <p:cNvSpPr/>
          <p:nvPr/>
        </p:nvSpPr>
        <p:spPr>
          <a:xfrm>
            <a:off x="2743200" y="-1802663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97C35784-951D-6B8B-D549-E2302DBEBF7D}"/>
              </a:ext>
            </a:extLst>
          </p:cNvPr>
          <p:cNvSpPr/>
          <p:nvPr/>
        </p:nvSpPr>
        <p:spPr>
          <a:xfrm>
            <a:off x="4846320" y="5917457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D3903EFE-EFA8-FF2D-E656-D2DCE66F2A3C}"/>
              </a:ext>
            </a:extLst>
          </p:cNvPr>
          <p:cNvSpPr/>
          <p:nvPr/>
        </p:nvSpPr>
        <p:spPr>
          <a:xfrm>
            <a:off x="6949440" y="-2063919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9674" y="1464564"/>
            <a:ext cx="16981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r>
              <a:rPr lang="en-US" sz="2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817,860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475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🧾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21,350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🍕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49,574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137160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9494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$38.31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Classic category leads in sales with 14,888 pizzas sold (30% of total)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(L) size dominates revenue contributing $375,319 (46% of total)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ordering hours: 12 PM - 1 PM (lunch rush)</a:t>
            </a:r>
            <a:endParaRPr lang="en-US" sz="14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4C29D963-6837-03DA-5475-1AE97C9B646E}"/>
              </a:ext>
            </a:extLst>
          </p:cNvPr>
          <p:cNvSpPr/>
          <p:nvPr/>
        </p:nvSpPr>
        <p:spPr>
          <a:xfrm>
            <a:off x="-4598814" y="1280160"/>
            <a:ext cx="41148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3562B64-F532-B1CD-5A07-7B2FB069931A}"/>
              </a:ext>
            </a:extLst>
          </p:cNvPr>
          <p:cNvSpPr/>
          <p:nvPr/>
        </p:nvSpPr>
        <p:spPr>
          <a:xfrm>
            <a:off x="9467069" y="1280160"/>
            <a:ext cx="41148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Data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Pizza Sales 2015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48,620 transactions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January - December 2015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Excel (.xlsx)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details &amp; timestamps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Pizza specifications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Pricing &amp; revenue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1148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Tools &amp; Techniques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Tool: Microsoft Excel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Methods: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Pivot Tables for aggregation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Time-based analysis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segmentation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calculations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rankings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Charts &amp; graphs</a:t>
            </a:r>
            <a:endParaRPr lang="en-US" sz="13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6189987-7076-BCF1-64B1-FC865930D3B0}"/>
              </a:ext>
            </a:extLst>
          </p:cNvPr>
          <p:cNvSpPr/>
          <p:nvPr/>
        </p:nvSpPr>
        <p:spPr>
          <a:xfrm>
            <a:off x="1828800" y="5656203"/>
            <a:ext cx="5486400" cy="2011680"/>
          </a:xfrm>
          <a:prstGeom prst="round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Total Revenue from sales?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5486400" cy="2011680"/>
          </a:xfrm>
          <a:prstGeom prst="round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$817,860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Method: SUM of total_price field using Pivot Table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941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many Total Orders were received?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65069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5486400" cy="2011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21,350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Method: COUNT DISTINCT of order_id field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58.5 orders per day over 365 days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average revenue per order?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1828800"/>
            <a:ext cx="3657600" cy="20116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$38.31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6400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 Total Revenue ÷ Total Orders = $817,860 ÷ 21,350 = $38.31</a:t>
            </a:r>
            <a:endParaRPr lang="en-US" sz="13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0F5D409-1D28-8D4A-EC65-2C6ED2318831}"/>
              </a:ext>
            </a:extLst>
          </p:cNvPr>
          <p:cNvSpPr/>
          <p:nvPr/>
        </p:nvSpPr>
        <p:spPr>
          <a:xfrm>
            <a:off x="-5673686" y="1854926"/>
            <a:ext cx="5486400" cy="457200"/>
          </a:xfrm>
          <a:prstGeom prst="round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B134FF2-0085-648D-B955-0D2A32B8D7E5}"/>
              </a:ext>
            </a:extLst>
          </p:cNvPr>
          <p:cNvSpPr/>
          <p:nvPr/>
        </p:nvSpPr>
        <p:spPr>
          <a:xfrm>
            <a:off x="-4584716" y="2606040"/>
            <a:ext cx="4417348" cy="45720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0F47F27-BB6C-E199-FA46-67407A0D71B2}"/>
              </a:ext>
            </a:extLst>
          </p:cNvPr>
          <p:cNvSpPr/>
          <p:nvPr/>
        </p:nvSpPr>
        <p:spPr>
          <a:xfrm>
            <a:off x="-4471259" y="3383280"/>
            <a:ext cx="4292791" cy="45720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7C6212C6-93E5-E173-523E-E72E5768A56D}"/>
              </a:ext>
            </a:extLst>
          </p:cNvPr>
          <p:cNvSpPr/>
          <p:nvPr/>
        </p:nvSpPr>
        <p:spPr>
          <a:xfrm>
            <a:off x="-4224297" y="4114800"/>
            <a:ext cx="4072053" cy="457200"/>
          </a:xfrm>
          <a:prstGeom prst="round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799"/>
            <a:ext cx="8229600" cy="56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many pizzas sold per pizza category?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854926"/>
            <a:ext cx="5486400" cy="457200"/>
          </a:xfrm>
          <a:prstGeom prst="round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14,888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0" y="1812471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606040"/>
            <a:ext cx="4417348" cy="45720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11908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11,987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619103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Veggie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3383280"/>
            <a:ext cx="4292791" cy="45720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87351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11,649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0696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3120" y="4114800"/>
            <a:ext cx="4072053" cy="457200"/>
          </a:xfrm>
          <a:prstGeom prst="round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6613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26985" y="4147457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85063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Pizzas Sold: 49,574</a:t>
            </a:r>
            <a:endParaRPr lang="en-US" sz="14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36246AB9-E0E1-6B12-DD97-9BB5030B534A}"/>
              </a:ext>
            </a:extLst>
          </p:cNvPr>
          <p:cNvSpPr/>
          <p:nvPr/>
        </p:nvSpPr>
        <p:spPr>
          <a:xfrm>
            <a:off x="457200" y="5303503"/>
            <a:ext cx="8229600" cy="36576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DC05A1A3-7E0A-4055-5087-4FF11C01D2D4}"/>
              </a:ext>
            </a:extLst>
          </p:cNvPr>
          <p:cNvSpPr/>
          <p:nvPr/>
        </p:nvSpPr>
        <p:spPr>
          <a:xfrm>
            <a:off x="457200" y="5669263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C692F183-E45D-EDAB-7352-7CAA60AF30B1}"/>
              </a:ext>
            </a:extLst>
          </p:cNvPr>
          <p:cNvSpPr/>
          <p:nvPr/>
        </p:nvSpPr>
        <p:spPr>
          <a:xfrm>
            <a:off x="457200" y="5971015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409F3D14-1896-F645-9D59-295A2C35EF7F}"/>
              </a:ext>
            </a:extLst>
          </p:cNvPr>
          <p:cNvSpPr/>
          <p:nvPr/>
        </p:nvSpPr>
        <p:spPr>
          <a:xfrm>
            <a:off x="457200" y="6272767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A67177D5-448D-BE13-5147-CAD2927FFC40}"/>
              </a:ext>
            </a:extLst>
          </p:cNvPr>
          <p:cNvSpPr/>
          <p:nvPr/>
        </p:nvSpPr>
        <p:spPr>
          <a:xfrm>
            <a:off x="457200" y="6574519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C4D3C788-9C87-D852-EA34-F524E6201C44}"/>
              </a:ext>
            </a:extLst>
          </p:cNvPr>
          <p:cNvSpPr/>
          <p:nvPr/>
        </p:nvSpPr>
        <p:spPr>
          <a:xfrm>
            <a:off x="457200" y="6876271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95FEF42-260D-BE62-8091-2F751B0A4ED6}"/>
              </a:ext>
            </a:extLst>
          </p:cNvPr>
          <p:cNvSpPr/>
          <p:nvPr/>
        </p:nvSpPr>
        <p:spPr>
          <a:xfrm>
            <a:off x="457200" y="7178023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01E516A3-D89B-0144-78C9-8EC59F80A9ED}"/>
              </a:ext>
            </a:extLst>
          </p:cNvPr>
          <p:cNvSpPr/>
          <p:nvPr/>
        </p:nvSpPr>
        <p:spPr>
          <a:xfrm>
            <a:off x="457200" y="7479775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5">
            <a:extLst>
              <a:ext uri="{FF2B5EF4-FFF2-40B4-BE49-F238E27FC236}">
                <a16:creationId xmlns:a16="http://schemas.microsoft.com/office/drawing/2014/main" id="{1A52ED4C-6098-AFC6-F758-961706137801}"/>
              </a:ext>
            </a:extLst>
          </p:cNvPr>
          <p:cNvSpPr/>
          <p:nvPr/>
        </p:nvSpPr>
        <p:spPr>
          <a:xfrm>
            <a:off x="457200" y="7781527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9">
            <a:extLst>
              <a:ext uri="{FF2B5EF4-FFF2-40B4-BE49-F238E27FC236}">
                <a16:creationId xmlns:a16="http://schemas.microsoft.com/office/drawing/2014/main" id="{F539B85B-CAF3-0DA1-73FD-2B923B883EA0}"/>
              </a:ext>
            </a:extLst>
          </p:cNvPr>
          <p:cNvSpPr/>
          <p:nvPr/>
        </p:nvSpPr>
        <p:spPr>
          <a:xfrm>
            <a:off x="457200" y="8083279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43">
            <a:extLst>
              <a:ext uri="{FF2B5EF4-FFF2-40B4-BE49-F238E27FC236}">
                <a16:creationId xmlns:a16="http://schemas.microsoft.com/office/drawing/2014/main" id="{83C47C25-9B40-97BC-8865-0E752EE96184}"/>
              </a:ext>
            </a:extLst>
          </p:cNvPr>
          <p:cNvSpPr/>
          <p:nvPr/>
        </p:nvSpPr>
        <p:spPr>
          <a:xfrm>
            <a:off x="457200" y="8385031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the top 10 best-selling pizzas?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Deluxe Pizza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22199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22199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Barbecue Chicken Pizza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2219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52374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523744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Hawaiian Pizza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52374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25496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82549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282549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Pepperoni Pizza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82549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27248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12724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127248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Pizza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12724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42900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63040" y="3429000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Chicken Pizza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42900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373075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63040" y="373075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Sicilian Pizza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37307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32504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03250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63040" y="4032504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 Italian Pizza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403250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334256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33425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63040" y="433425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Chicken Pizza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433425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636008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63600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463040" y="4636008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Meat Pizza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75120" y="463600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1,914</a:t>
            </a:r>
            <a:endParaRPr lang="en-US" sz="1100" dirty="0"/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BD545BC4-44E8-607E-EDAA-43904CC743A4}"/>
              </a:ext>
            </a:extLst>
          </p:cNvPr>
          <p:cNvSpPr/>
          <p:nvPr/>
        </p:nvSpPr>
        <p:spPr>
          <a:xfrm>
            <a:off x="914400" y="5300782"/>
            <a:ext cx="563880" cy="172819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8D4C031B-1D33-77DA-7F32-08B82CF9A0F5}"/>
              </a:ext>
            </a:extLst>
          </p:cNvPr>
          <p:cNvSpPr/>
          <p:nvPr/>
        </p:nvSpPr>
        <p:spPr>
          <a:xfrm>
            <a:off x="1524000" y="5474543"/>
            <a:ext cx="563880" cy="155443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852A4708-FDA3-2D6E-B77A-446154E5BCFF}"/>
              </a:ext>
            </a:extLst>
          </p:cNvPr>
          <p:cNvSpPr/>
          <p:nvPr/>
        </p:nvSpPr>
        <p:spPr>
          <a:xfrm>
            <a:off x="2133600" y="5308480"/>
            <a:ext cx="563880" cy="1720493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801ACBC2-195A-B879-60E8-E711E1CEE4D4}"/>
              </a:ext>
            </a:extLst>
          </p:cNvPr>
          <p:cNvSpPr/>
          <p:nvPr/>
        </p:nvSpPr>
        <p:spPr>
          <a:xfrm>
            <a:off x="2743200" y="5332344"/>
            <a:ext cx="563880" cy="1696629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BC43F583-B28F-E311-644D-3D49E2A69A52}"/>
              </a:ext>
            </a:extLst>
          </p:cNvPr>
          <p:cNvSpPr/>
          <p:nvPr/>
        </p:nvSpPr>
        <p:spPr>
          <a:xfrm>
            <a:off x="3352800" y="5396603"/>
            <a:ext cx="563880" cy="163237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12916C6E-0962-FE8A-BADD-0225B83684A9}"/>
              </a:ext>
            </a:extLst>
          </p:cNvPr>
          <p:cNvSpPr/>
          <p:nvPr/>
        </p:nvSpPr>
        <p:spPr>
          <a:xfrm>
            <a:off x="3962400" y="5384248"/>
            <a:ext cx="563880" cy="1644725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07CC4BC0-6034-DF67-55D8-5B5D7806CBA6}"/>
              </a:ext>
            </a:extLst>
          </p:cNvPr>
          <p:cNvSpPr/>
          <p:nvPr/>
        </p:nvSpPr>
        <p:spPr>
          <a:xfrm>
            <a:off x="4572000" y="5318614"/>
            <a:ext cx="563880" cy="1710359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F842D15B-0E5E-3D9F-6455-8DC951D7B965}"/>
              </a:ext>
            </a:extLst>
          </p:cNvPr>
          <p:cNvSpPr/>
          <p:nvPr/>
        </p:nvSpPr>
        <p:spPr>
          <a:xfrm>
            <a:off x="5181600" y="5352010"/>
            <a:ext cx="563880" cy="1676963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3C3FDE74-29F6-B400-A313-28FF9975F956}"/>
              </a:ext>
            </a:extLst>
          </p:cNvPr>
          <p:cNvSpPr/>
          <p:nvPr/>
        </p:nvSpPr>
        <p:spPr>
          <a:xfrm>
            <a:off x="5791200" y="5489382"/>
            <a:ext cx="563880" cy="153959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22">
            <a:extLst>
              <a:ext uri="{FF2B5EF4-FFF2-40B4-BE49-F238E27FC236}">
                <a16:creationId xmlns:a16="http://schemas.microsoft.com/office/drawing/2014/main" id="{56EB4233-EA23-C99A-F433-9CD2954FED9B}"/>
              </a:ext>
            </a:extLst>
          </p:cNvPr>
          <p:cNvSpPr/>
          <p:nvPr/>
        </p:nvSpPr>
        <p:spPr>
          <a:xfrm>
            <a:off x="6400800" y="5384465"/>
            <a:ext cx="563880" cy="16445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24">
            <a:extLst>
              <a:ext uri="{FF2B5EF4-FFF2-40B4-BE49-F238E27FC236}">
                <a16:creationId xmlns:a16="http://schemas.microsoft.com/office/drawing/2014/main" id="{DE89F03C-3A33-E2E3-7F33-9337207453A6}"/>
              </a:ext>
            </a:extLst>
          </p:cNvPr>
          <p:cNvSpPr/>
          <p:nvPr/>
        </p:nvSpPr>
        <p:spPr>
          <a:xfrm>
            <a:off x="7010400" y="5315622"/>
            <a:ext cx="563880" cy="171335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40E44156-3BDC-4DE2-7975-7BD43985392C}"/>
              </a:ext>
            </a:extLst>
          </p:cNvPr>
          <p:cNvSpPr/>
          <p:nvPr/>
        </p:nvSpPr>
        <p:spPr>
          <a:xfrm>
            <a:off x="7620000" y="5555643"/>
            <a:ext cx="563880" cy="147333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717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284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revenue trend over time?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9446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12289"/>
            <a:ext cx="563880" cy="172819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4000" y="2286050"/>
            <a:ext cx="563880" cy="155443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40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33600" y="2119987"/>
            <a:ext cx="563880" cy="1720493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36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143851"/>
            <a:ext cx="563880" cy="1696629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2800" y="2208110"/>
            <a:ext cx="563880" cy="163237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528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62400" y="2195755"/>
            <a:ext cx="563880" cy="1644725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624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130121"/>
            <a:ext cx="563880" cy="1710359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81600" y="2163517"/>
            <a:ext cx="563880" cy="1676963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16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91200" y="2300889"/>
            <a:ext cx="563880" cy="153959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912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195972"/>
            <a:ext cx="563880" cy="16445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10400" y="2127129"/>
            <a:ext cx="563880" cy="171335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104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20000" y="2367150"/>
            <a:ext cx="563880" cy="147333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0000" y="3886200"/>
            <a:ext cx="563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months: January ($71,620), March ($71,301), November ($71,005)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Lowest month: December ($61,058) - possible seasonal decline</a:t>
            </a:r>
            <a:endParaRPr lang="en-US" sz="11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95A24FEA-102F-F4D3-6FCB-7867DFAA25A6}"/>
              </a:ext>
            </a:extLst>
          </p:cNvPr>
          <p:cNvSpPr/>
          <p:nvPr/>
        </p:nvSpPr>
        <p:spPr>
          <a:xfrm>
            <a:off x="914400" y="2119987"/>
            <a:ext cx="563880" cy="172819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26CB32D5-9460-753F-DEC5-185220F57BD6}"/>
              </a:ext>
            </a:extLst>
          </p:cNvPr>
          <p:cNvSpPr/>
          <p:nvPr/>
        </p:nvSpPr>
        <p:spPr>
          <a:xfrm>
            <a:off x="1524000" y="2293748"/>
            <a:ext cx="563880" cy="155443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9DB1E2F8-4660-2508-DDBD-3F2C11A18836}"/>
              </a:ext>
            </a:extLst>
          </p:cNvPr>
          <p:cNvSpPr/>
          <p:nvPr/>
        </p:nvSpPr>
        <p:spPr>
          <a:xfrm>
            <a:off x="2133600" y="2127685"/>
            <a:ext cx="563880" cy="1720493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304CD43D-6EAF-DAD6-BB2D-0FBE446D8CEA}"/>
              </a:ext>
            </a:extLst>
          </p:cNvPr>
          <p:cNvSpPr/>
          <p:nvPr/>
        </p:nvSpPr>
        <p:spPr>
          <a:xfrm>
            <a:off x="2743200" y="2151549"/>
            <a:ext cx="563880" cy="1696629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C4CC65EC-2243-3235-8C7E-F39CC7C0B08F}"/>
              </a:ext>
            </a:extLst>
          </p:cNvPr>
          <p:cNvSpPr/>
          <p:nvPr/>
        </p:nvSpPr>
        <p:spPr>
          <a:xfrm>
            <a:off x="3352800" y="2215808"/>
            <a:ext cx="563880" cy="163237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BF20F174-1214-8ADA-0E2A-38CBDDF7BD01}"/>
              </a:ext>
            </a:extLst>
          </p:cNvPr>
          <p:cNvSpPr/>
          <p:nvPr/>
        </p:nvSpPr>
        <p:spPr>
          <a:xfrm>
            <a:off x="3962400" y="2203453"/>
            <a:ext cx="563880" cy="1644725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AF80A0E7-9D96-E2F1-F4C2-1F37E23C0A1C}"/>
              </a:ext>
            </a:extLst>
          </p:cNvPr>
          <p:cNvSpPr/>
          <p:nvPr/>
        </p:nvSpPr>
        <p:spPr>
          <a:xfrm>
            <a:off x="4572000" y="2137819"/>
            <a:ext cx="563880" cy="1710359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779D89FB-353D-417D-EABB-021DB8E9B4B0}"/>
              </a:ext>
            </a:extLst>
          </p:cNvPr>
          <p:cNvSpPr/>
          <p:nvPr/>
        </p:nvSpPr>
        <p:spPr>
          <a:xfrm>
            <a:off x="5181600" y="2171215"/>
            <a:ext cx="563880" cy="1676963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CEBA4477-BD8B-8E55-708C-755793DF811F}"/>
              </a:ext>
            </a:extLst>
          </p:cNvPr>
          <p:cNvSpPr/>
          <p:nvPr/>
        </p:nvSpPr>
        <p:spPr>
          <a:xfrm>
            <a:off x="5791200" y="2308587"/>
            <a:ext cx="563880" cy="153959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223ABD61-E82C-F190-0CE9-8CA8944FF8A6}"/>
              </a:ext>
            </a:extLst>
          </p:cNvPr>
          <p:cNvSpPr/>
          <p:nvPr/>
        </p:nvSpPr>
        <p:spPr>
          <a:xfrm>
            <a:off x="6400800" y="2203670"/>
            <a:ext cx="563880" cy="164450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1FA1758F-2186-EB44-2C34-152E5AB19BF1}"/>
              </a:ext>
            </a:extLst>
          </p:cNvPr>
          <p:cNvSpPr/>
          <p:nvPr/>
        </p:nvSpPr>
        <p:spPr>
          <a:xfrm>
            <a:off x="7010400" y="2134827"/>
            <a:ext cx="563880" cy="1713351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1790A37F-357C-3268-AEFF-0C135025CEEE}"/>
              </a:ext>
            </a:extLst>
          </p:cNvPr>
          <p:cNvSpPr/>
          <p:nvPr/>
        </p:nvSpPr>
        <p:spPr>
          <a:xfrm>
            <a:off x="7620000" y="2374848"/>
            <a:ext cx="563880" cy="147333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95B7F4C1-DF21-7E4D-4DA6-AA777CF7AE4A}"/>
              </a:ext>
            </a:extLst>
          </p:cNvPr>
          <p:cNvSpPr/>
          <p:nvPr/>
        </p:nvSpPr>
        <p:spPr>
          <a:xfrm>
            <a:off x="-1662604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9F243CA7-9D0F-A5DA-FDE1-DEDA412B3FD5}"/>
              </a:ext>
            </a:extLst>
          </p:cNvPr>
          <p:cNvSpPr/>
          <p:nvPr/>
        </p:nvSpPr>
        <p:spPr>
          <a:xfrm>
            <a:off x="2240280" y="5272834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AE4BC742-3111-522A-11E0-73AB20D907DE}"/>
              </a:ext>
            </a:extLst>
          </p:cNvPr>
          <p:cNvSpPr/>
          <p:nvPr/>
        </p:nvSpPr>
        <p:spPr>
          <a:xfrm>
            <a:off x="3931920" y="-1895562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AE0A4340-7796-015D-9A0E-E8877CF945A3}"/>
              </a:ext>
            </a:extLst>
          </p:cNvPr>
          <p:cNvSpPr/>
          <p:nvPr/>
        </p:nvSpPr>
        <p:spPr>
          <a:xfrm>
            <a:off x="5623560" y="5232785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A960B9F3-5CDE-A4C8-A267-0D0C06E447A4}"/>
              </a:ext>
            </a:extLst>
          </p:cNvPr>
          <p:cNvSpPr/>
          <p:nvPr/>
        </p:nvSpPr>
        <p:spPr>
          <a:xfrm>
            <a:off x="9297518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revenue by pizza category and size?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$375K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4028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$249K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4028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E7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$178K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3192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23560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2356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Large (XL)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2356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1828800"/>
            <a:ext cx="155448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$1K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71600" y="3931920"/>
            <a:ext cx="6400800" cy="731520"/>
          </a:xfrm>
          <a:prstGeom prst="round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Large size pizzas account for nearly half of total revenue</a:t>
            </a:r>
            <a:endParaRPr lang="en-US" sz="1600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12D79CF1-AA73-E1B8-E129-35E3E7422D0E}"/>
              </a:ext>
            </a:extLst>
          </p:cNvPr>
          <p:cNvSpPr/>
          <p:nvPr/>
        </p:nvSpPr>
        <p:spPr>
          <a:xfrm>
            <a:off x="1371600" y="5270846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270277BE-76C3-4553-2695-158CA7225BAC}"/>
              </a:ext>
            </a:extLst>
          </p:cNvPr>
          <p:cNvSpPr/>
          <p:nvPr/>
        </p:nvSpPr>
        <p:spPr>
          <a:xfrm>
            <a:off x="1371600" y="5773766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BBECDD4F-992D-7EE5-341E-E878873A8F3A}"/>
              </a:ext>
            </a:extLst>
          </p:cNvPr>
          <p:cNvSpPr/>
          <p:nvPr/>
        </p:nvSpPr>
        <p:spPr>
          <a:xfrm>
            <a:off x="1371600" y="6276686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05177BCC-0865-01BF-A35C-00F9046D566A}"/>
              </a:ext>
            </a:extLst>
          </p:cNvPr>
          <p:cNvSpPr/>
          <p:nvPr/>
        </p:nvSpPr>
        <p:spPr>
          <a:xfrm>
            <a:off x="1371600" y="6779606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91E8F81D-3011-8C1E-B3A5-2E37C164DE3F}"/>
              </a:ext>
            </a:extLst>
          </p:cNvPr>
          <p:cNvSpPr/>
          <p:nvPr/>
        </p:nvSpPr>
        <p:spPr>
          <a:xfrm>
            <a:off x="1371600" y="7282526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8C8FED19-1643-0C19-FF89-EEA75B3D26B7}"/>
              </a:ext>
            </a:extLst>
          </p:cNvPr>
          <p:cNvSpPr/>
          <p:nvPr/>
        </p:nvSpPr>
        <p:spPr>
          <a:xfrm>
            <a:off x="1371600" y="7739726"/>
            <a:ext cx="6400800" cy="64008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Peak Ordering Hours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 - 1:00 PM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2,520 orders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312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 - 2:00 PM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2,455 orders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5448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 - 7:00 PM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2,399 orders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3520440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3520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0312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 - 6:00 PM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2,336 orders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4023360"/>
            <a:ext cx="64008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5️⃣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10312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PM - 8:00 PM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2,009 orders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4480560"/>
            <a:ext cx="6400800" cy="64008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54480" y="4617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 Recommendation: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staffing during lunch (12-2 PM) and dinner (5-8 PM) rush hours</a:t>
            </a:r>
            <a:endParaRPr lang="en-US" sz="13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66614978-5846-3743-04DB-520BD31E7028}"/>
              </a:ext>
            </a:extLst>
          </p:cNvPr>
          <p:cNvSpPr/>
          <p:nvPr/>
        </p:nvSpPr>
        <p:spPr>
          <a:xfrm>
            <a:off x="-8076512" y="1120140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21FD928-EE64-6AE3-0A82-0B28C921583A}"/>
              </a:ext>
            </a:extLst>
          </p:cNvPr>
          <p:cNvSpPr/>
          <p:nvPr/>
        </p:nvSpPr>
        <p:spPr>
          <a:xfrm>
            <a:off x="-7893632" y="130302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0A444568-07D1-8FA5-DB72-0F84499B7BA5}"/>
              </a:ext>
            </a:extLst>
          </p:cNvPr>
          <p:cNvSpPr/>
          <p:nvPr/>
        </p:nvSpPr>
        <p:spPr>
          <a:xfrm>
            <a:off x="9268193" y="2132511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F39E68AB-9659-B79C-1863-1D19DC063E81}"/>
              </a:ext>
            </a:extLst>
          </p:cNvPr>
          <p:cNvSpPr/>
          <p:nvPr/>
        </p:nvSpPr>
        <p:spPr>
          <a:xfrm>
            <a:off x="9451073" y="232029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C71D4750-CE78-12D8-A2B8-26F4C3353B36}"/>
              </a:ext>
            </a:extLst>
          </p:cNvPr>
          <p:cNvSpPr/>
          <p:nvPr/>
        </p:nvSpPr>
        <p:spPr>
          <a:xfrm>
            <a:off x="-8058788" y="3131820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8BD0A5C0-66A2-9B55-05A2-36B1254737AF}"/>
              </a:ext>
            </a:extLst>
          </p:cNvPr>
          <p:cNvSpPr/>
          <p:nvPr/>
        </p:nvSpPr>
        <p:spPr>
          <a:xfrm>
            <a:off x="-7875908" y="331470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263068B9-6483-DFB9-A53F-935B45A66BE2}"/>
              </a:ext>
            </a:extLst>
          </p:cNvPr>
          <p:cNvSpPr/>
          <p:nvPr/>
        </p:nvSpPr>
        <p:spPr>
          <a:xfrm>
            <a:off x="9321590" y="4114800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B77916DA-B3AB-BF43-A513-C1E7A3C09B0B}"/>
              </a:ext>
            </a:extLst>
          </p:cNvPr>
          <p:cNvSpPr/>
          <p:nvPr/>
        </p:nvSpPr>
        <p:spPr>
          <a:xfrm>
            <a:off x="9527330" y="4304211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20140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30302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3030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2115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Classic Category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5316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pizzas lead with 30% of sales. Expand menu variety in this category and promote bestsellers like Classic Deluxe and Pepperoni.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32511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32029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088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2174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Large Size Production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5374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pizzas generate 46% of revenue. Ensure adequate ingredients and streamline prep for this high-demand size.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31820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31470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3147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2232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 Staffing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433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during lunch (12-2 PM) and dinner (5-8 PM) rushes. Consider pre-prep strategies to handle 2,500+ orders per hour.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786384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7260" y="4304211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32870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2291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Campaign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491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in December to $61K. Launch holiday promotions or family deals to boost year-end sales.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715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1154430"/>
            <a:ext cx="1828800" cy="4572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demonstrates strong business performance with $817K in annual revenue.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 include diverse product portfolio across 4 categories and consistent 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 throughout the year.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recommended strategies can further optimize operations and 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revenue growth.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3931920"/>
            <a:ext cx="4572000" cy="548640"/>
          </a:xfrm>
          <a:prstGeom prst="round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Demonstrated: Excel | Pivot Tables | Data Visualization | Business Analysis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TERIMA KASIH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724</Words>
  <Application>Microsoft Office PowerPoint</Application>
  <PresentationFormat>On-screen Show (16:9)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Restaurant Performance Analysis</dc:title>
  <dc:subject>PptxGenJS Presentation</dc:subject>
  <dc:creator>Data Analyst Portfolio</dc:creator>
  <cp:lastModifiedBy>092 Bintang Diaz EP A</cp:lastModifiedBy>
  <cp:revision>3</cp:revision>
  <dcterms:created xsi:type="dcterms:W3CDTF">2026-02-02T14:06:57Z</dcterms:created>
  <dcterms:modified xsi:type="dcterms:W3CDTF">2026-02-04T14:46:05Z</dcterms:modified>
</cp:coreProperties>
</file>